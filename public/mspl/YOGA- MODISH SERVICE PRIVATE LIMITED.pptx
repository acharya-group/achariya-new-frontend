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17/06/2024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17/06/2024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17/06/2024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17/06/2024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17/06/2024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gsansthan.com/" TargetMode="External"/><Relationship Id="rId2" Type="http://schemas.openxmlformats.org/officeDocument/2006/relationships/hyperlink" Target="http://www.msplyoga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yogacertificationboard.nic.in/mis/Hom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MODISH SERVICE PRIVATE LIMITED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 err="1" smtClean="0"/>
              <a:t>PrCB</a:t>
            </a:r>
            <a:r>
              <a:rPr lang="en-US" sz="3600" dirty="0" smtClean="0"/>
              <a:t> approved by Yoga Certification Board (Ministry of AYUSH, </a:t>
            </a:r>
            <a:r>
              <a:rPr lang="en-US" sz="3600" dirty="0" err="1" smtClean="0"/>
              <a:t>Govt</a:t>
            </a:r>
            <a:r>
              <a:rPr lang="en-US" sz="3600" dirty="0" smtClean="0"/>
              <a:t> of India)</a:t>
            </a:r>
            <a:endParaRPr lang="en-US" sz="3600" dirty="0"/>
          </a:p>
        </p:txBody>
      </p:sp>
      <p:pic>
        <p:nvPicPr>
          <p:cNvPr id="4" name="Picture 3" descr="C:\Users\bhumika\Desktop\Modish Logo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165" y="171874"/>
            <a:ext cx="2576830" cy="2232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Untitled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59" y="171874"/>
            <a:ext cx="1852295" cy="2458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9097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MSPL- </a:t>
            </a:r>
            <a:r>
              <a:rPr lang="en-US" dirty="0"/>
              <a:t>PERSONNEL CERTIFICATION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MODISH SERVICE PRIVATE LIMITED, YOGA CERTIFICATION BOARD (AYUSH Ministry, </a:t>
            </a:r>
            <a:r>
              <a:rPr lang="en-US" dirty="0" err="1" smtClean="0"/>
              <a:t>Govt</a:t>
            </a:r>
            <a:r>
              <a:rPr lang="en-US" dirty="0" smtClean="0"/>
              <a:t> of India)</a:t>
            </a:r>
            <a:r>
              <a:rPr lang="hi-IN" dirty="0" smtClean="0"/>
              <a:t> द्वारा approved PrCB (Personnel </a:t>
            </a:r>
            <a:r>
              <a:rPr lang="en-US" dirty="0" smtClean="0"/>
              <a:t>Certification Body) </a:t>
            </a:r>
            <a:r>
              <a:rPr lang="hi-IN" dirty="0" smtClean="0"/>
              <a:t>है..</a:t>
            </a:r>
          </a:p>
          <a:p>
            <a:endParaRPr lang="hi-IN" dirty="0"/>
          </a:p>
          <a:p>
            <a:r>
              <a:rPr lang="en-US" dirty="0"/>
              <a:t>YCB (Yoga Certification </a:t>
            </a:r>
            <a:r>
              <a:rPr lang="en-US" dirty="0" smtClean="0"/>
              <a:t>Board</a:t>
            </a:r>
            <a:r>
              <a:rPr lang="hi-IN" dirty="0" smtClean="0"/>
              <a:t>), योग प्रमरण बोर्ड की स्थापना , मोरारजी देसाई , राष्ट्रीय योग संसथान , आयुष मंत्रालय , भारत सरकार (</a:t>
            </a:r>
            <a:r>
              <a:rPr lang="en-US" dirty="0" smtClean="0"/>
              <a:t>AYUSH </a:t>
            </a:r>
            <a:r>
              <a:rPr lang="en-US" dirty="0"/>
              <a:t>Ministry, </a:t>
            </a:r>
            <a:r>
              <a:rPr lang="en-US" dirty="0" err="1"/>
              <a:t>Govt</a:t>
            </a:r>
            <a:r>
              <a:rPr lang="en-US" dirty="0"/>
              <a:t> of India)</a:t>
            </a:r>
            <a:r>
              <a:rPr lang="hi-IN" dirty="0"/>
              <a:t> </a:t>
            </a:r>
            <a:r>
              <a:rPr lang="hi-IN" dirty="0" smtClean="0"/>
              <a:t>के तत्वाधान में मार्च, 2018 में की गई थी , जून 2018 में काम करना शुरू किआ |</a:t>
            </a:r>
          </a:p>
          <a:p>
            <a:endParaRPr lang="hi-IN" dirty="0"/>
          </a:p>
          <a:p>
            <a:pPr fontAlgn="base"/>
            <a:r>
              <a:rPr lang="en-IN" b="1" dirty="0">
                <a:hlinkClick r:id="rId2"/>
              </a:rPr>
              <a:t>www.msplyoga.com</a:t>
            </a:r>
            <a:r>
              <a:rPr lang="en-IN" dirty="0"/>
              <a:t> </a:t>
            </a:r>
            <a:r>
              <a:rPr lang="en-IN" b="1" dirty="0"/>
              <a:t>          </a:t>
            </a:r>
            <a:r>
              <a:rPr lang="en-IN" dirty="0"/>
              <a:t> </a:t>
            </a:r>
            <a:endParaRPr lang="en-US" dirty="0"/>
          </a:p>
          <a:p>
            <a:pPr fontAlgn="base"/>
            <a:r>
              <a:rPr lang="en-IN" b="1" dirty="0"/>
              <a:t> </a:t>
            </a:r>
            <a:r>
              <a:rPr lang="en-IN" b="1" dirty="0">
                <a:hlinkClick r:id="rId3"/>
              </a:rPr>
              <a:t>www.yogsansthan.com</a:t>
            </a:r>
            <a:r>
              <a:rPr lang="en-IN" b="1" dirty="0"/>
              <a:t> </a:t>
            </a:r>
            <a:endParaRPr lang="en-US" dirty="0"/>
          </a:p>
          <a:p>
            <a:endParaRPr lang="hi-IN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840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/>
              <a:t>MSPL</a:t>
            </a:r>
            <a:r>
              <a:rPr lang="hi-IN" dirty="0"/>
              <a:t> के उद्देश्य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hi-IN" dirty="0"/>
              <a:t>विभिन्न भारतीय योग परंपराओं को बनाए रखना और बढ़ावा देना।(</a:t>
            </a:r>
            <a:r>
              <a:rPr lang="en-US" dirty="0"/>
              <a:t>Certification of Yoga Professionals.)</a:t>
            </a:r>
          </a:p>
          <a:p>
            <a:pPr lvl="0" fontAlgn="base"/>
            <a:r>
              <a:rPr lang="hi-IN" dirty="0"/>
              <a:t>योग की गुणवत्ता और मानकों को बनाए रखने के लिए निर्णय में निष्पक्ष और स्वतंत्र।</a:t>
            </a:r>
            <a:endParaRPr lang="en-US" dirty="0"/>
          </a:p>
          <a:p>
            <a:pPr lvl="0" fontAlgn="base"/>
            <a:r>
              <a:rPr lang="hi-IN" dirty="0" smtClean="0"/>
              <a:t>भारत </a:t>
            </a:r>
            <a:r>
              <a:rPr lang="hi-IN" dirty="0"/>
              <a:t>भर में कार्यशालाओं</a:t>
            </a:r>
            <a:r>
              <a:rPr lang="en-IN" dirty="0"/>
              <a:t>, </a:t>
            </a:r>
            <a:r>
              <a:rPr lang="hi-IN" dirty="0"/>
              <a:t>सेमिनारों का संचालन करना।</a:t>
            </a:r>
            <a:endParaRPr lang="en-US" dirty="0"/>
          </a:p>
          <a:p>
            <a:pPr lvl="0" fontAlgn="base"/>
            <a:r>
              <a:rPr lang="hi-IN" dirty="0"/>
              <a:t>योग में उभरती प्रवृत्तियों पर प्रयोग और शोध करना।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57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Yoga Certification Courses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b="1" dirty="0"/>
              <a:t>Yoga Volunteer - (36 hour)</a:t>
            </a:r>
            <a:r>
              <a:rPr lang="en-US" dirty="0"/>
              <a:t> </a:t>
            </a:r>
          </a:p>
          <a:p>
            <a:pPr lvl="0" fontAlgn="base"/>
            <a:r>
              <a:rPr lang="en-US" b="1" dirty="0"/>
              <a:t>Yoga Protocol Instructor - (200 hour/ 3 month )</a:t>
            </a:r>
            <a:r>
              <a:rPr lang="en-US" dirty="0"/>
              <a:t> </a:t>
            </a:r>
          </a:p>
          <a:p>
            <a:pPr lvl="0" fontAlgn="base"/>
            <a:r>
              <a:rPr lang="en-US" b="1" dirty="0"/>
              <a:t>Yoga Wellness Instructor - (400 hour / 6 month)</a:t>
            </a:r>
            <a:r>
              <a:rPr lang="en-US" dirty="0"/>
              <a:t> </a:t>
            </a:r>
          </a:p>
          <a:p>
            <a:pPr lvl="0" fontAlgn="base"/>
            <a:r>
              <a:rPr lang="en-US" b="1" dirty="0"/>
              <a:t>Yoga Teacher and Evaluator -  (800 hour/ 15 Month)</a:t>
            </a:r>
            <a:r>
              <a:rPr lang="en-US" dirty="0"/>
              <a:t> </a:t>
            </a:r>
          </a:p>
          <a:p>
            <a:pPr lvl="0" fontAlgn="base"/>
            <a:r>
              <a:rPr lang="en-US" b="1" dirty="0"/>
              <a:t>Yoga Master - (1600 hour)</a:t>
            </a:r>
            <a:r>
              <a:rPr lang="en-US" dirty="0"/>
              <a:t> </a:t>
            </a:r>
          </a:p>
          <a:p>
            <a:pPr lvl="0" fontAlgn="base"/>
            <a:r>
              <a:rPr lang="en-US" b="1" dirty="0"/>
              <a:t>Assistant Yoga Therapist - (400 hour / 6 month)</a:t>
            </a:r>
            <a:r>
              <a:rPr lang="en-US" dirty="0"/>
              <a:t> </a:t>
            </a:r>
          </a:p>
          <a:p>
            <a:r>
              <a:rPr lang="en-US" b="1" dirty="0"/>
              <a:t>Yoga Therapist - (800 hour /15 month)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174997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of Certificate, Eligibility and where we use the Certificate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1009390"/>
              </p:ext>
            </p:extLst>
          </p:nvPr>
        </p:nvGraphicFramePr>
        <p:xfrm>
          <a:off x="1299369" y="2272506"/>
          <a:ext cx="7663562" cy="42007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5321"/>
                <a:gridCol w="1403001"/>
                <a:gridCol w="2911889"/>
                <a:gridCol w="2713351"/>
              </a:tblGrid>
              <a:tr h="57965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</a:rPr>
                        <a:t>S.N.</a:t>
                      </a:r>
                      <a:endParaRPr lang="en-US" sz="1200" b="0" i="0" u="none" strike="noStrike" dirty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Types of Certification           ( प्रमाणपत्र के प्रकार 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Eligibility criteria      ( पात्रता मापदंड 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i-IN" sz="1100" u="none" strike="noStrike">
                          <a:effectLst/>
                        </a:rPr>
                        <a:t>प्रमाणपत्र धारक इसका उपयोग कहां करें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Mangal" panose="02040503050203030202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109137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>
                          <a:effectLst/>
                        </a:rPr>
                        <a:t>Yoga Volunteer                   ( योग स्वयंसेवक )</a:t>
                      </a:r>
                      <a:endParaRPr lang="en-US" sz="1200" b="0" i="0" u="none" strike="noStrike">
                        <a:solidFill>
                          <a:srgbClr val="202124"/>
                        </a:solidFill>
                        <a:effectLst/>
                        <a:latin typeface="Inherit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i-IN" sz="1200" u="none" strike="noStrike">
                          <a:effectLst/>
                        </a:rPr>
                        <a:t>सभी के लिए खुला हैं, सभी व्यक्ति कर सकते हैं और  प्रशिक्षण कार्यक्रम में भाग लें सकते हैं।</a:t>
                      </a:r>
                      <a:endParaRPr lang="en-US" sz="1200" b="0" i="0" u="none" strike="noStrike">
                        <a:solidFill>
                          <a:srgbClr val="202124"/>
                        </a:solidFill>
                        <a:effectLst/>
                        <a:latin typeface="Mangal" panose="02040503050203030202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>
                          <a:effectLst/>
                        </a:rPr>
                        <a:t>classes in the park ,</a:t>
                      </a:r>
                      <a:r>
                        <a:rPr lang="en-IN" sz="1100" u="none" strike="noStrike">
                          <a:effectLst/>
                        </a:rPr>
                        <a:t> </a:t>
                      </a:r>
                      <a:r>
                        <a:rPr lang="en-IN" sz="1200" u="none" strike="noStrike">
                          <a:effectLst/>
                        </a:rPr>
                        <a:t>योग के लिए समूह कक्षाएं,</a:t>
                      </a:r>
                      <a:r>
                        <a:rPr lang="en-IN" sz="1100" u="none" strike="noStrike">
                          <a:effectLst/>
                        </a:rPr>
                        <a:t> </a:t>
                      </a:r>
                      <a:r>
                        <a:rPr lang="en-IN" sz="1200" u="none" strike="noStrike">
                          <a:effectLst/>
                        </a:rPr>
                        <a:t>अंतर्राष्ट्रीय योग दिवस पर</a:t>
                      </a:r>
                      <a:endParaRPr lang="en-US" sz="12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1033557">
                <a:tc>
                  <a:txBody>
                    <a:bodyPr/>
                    <a:lstStyle/>
                    <a:p>
                      <a:pPr algn="r" fontAlgn="ctr"/>
                      <a:r>
                        <a:rPr lang="en-IN" sz="1200" u="none" strike="noStrike">
                          <a:effectLst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>
                          <a:effectLst/>
                        </a:rPr>
                        <a:t>Yoga Protocol Instructor  ( योग प्रोटोकॉल प्रशिक्षक)</a:t>
                      </a:r>
                      <a:endParaRPr lang="en-US" sz="12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</a:rPr>
                        <a:t>10वीं </a:t>
                      </a:r>
                      <a:r>
                        <a:rPr lang="en-IN" sz="1200" u="none" strike="noStrike" dirty="0" err="1">
                          <a:effectLst/>
                        </a:rPr>
                        <a:t>कक्षा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प्रमाण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पत्र</a:t>
                      </a:r>
                      <a:r>
                        <a:rPr lang="en-IN" sz="1200" u="none" strike="noStrike" dirty="0">
                          <a:effectLst/>
                        </a:rPr>
                        <a:t>/</a:t>
                      </a:r>
                      <a:r>
                        <a:rPr lang="en-IN" sz="1200" u="none" strike="noStrike" dirty="0" err="1">
                          <a:effectLst/>
                        </a:rPr>
                        <a:t>किसी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माध्यमिक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विद्यालय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से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मान्यता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</a:rPr>
                        <a:t>प्राप्त</a:t>
                      </a:r>
                      <a:r>
                        <a:rPr lang="en-IN" sz="1200" u="none" strike="noStrike" dirty="0" smtClean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बोर्ड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या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</a:rPr>
                        <a:t>समकक्ष</a:t>
                      </a:r>
                      <a:endParaRPr lang="en-US" sz="1200" u="none" strike="noStrike" dirty="0" smtClean="0">
                        <a:effectLst/>
                      </a:endParaRPr>
                    </a:p>
                    <a:p>
                      <a:pPr algn="l" fontAlgn="ctr"/>
                      <a:endParaRPr lang="en-US" sz="1200" b="0" i="0" u="none" strike="noStrike" dirty="0" smtClean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Open</a:t>
                      </a:r>
                      <a:r>
                        <a:rPr lang="en-US" sz="1200" b="0" i="0" u="none" strike="noStrike" baseline="0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 Candidates: There are no eligibility criteria for Candidates </a:t>
                      </a:r>
                      <a:endParaRPr lang="en-US" sz="1200" b="0" i="0" u="none" strike="noStrike" dirty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i-IN" sz="1200" u="none" strike="noStrike">
                          <a:effectLst/>
                        </a:rPr>
                        <a:t>अंतर्राष्ट्रीय योग दिवस पर , पार्क, सोसायटी, सरकारी नौकरी,आदि,रोगों की रोकथाम और स्वास्थ्य का प्रचार।</a:t>
                      </a:r>
                      <a:endParaRPr lang="en-US" sz="1200" b="0" i="0" u="none" strike="noStrike">
                        <a:solidFill>
                          <a:srgbClr val="202124"/>
                        </a:solidFill>
                        <a:effectLst/>
                        <a:latin typeface="Mangal" panose="02040503050203030202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1496128">
                <a:tc>
                  <a:txBody>
                    <a:bodyPr/>
                    <a:lstStyle/>
                    <a:p>
                      <a:pPr algn="r" fontAlgn="ctr"/>
                      <a:r>
                        <a:rPr lang="en-IN" sz="1200" u="none" strike="noStrike">
                          <a:effectLst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>
                          <a:effectLst/>
                        </a:rPr>
                        <a:t>Yoga Wellness Instructor</a:t>
                      </a:r>
                      <a:r>
                        <a:rPr lang="en-IN" sz="1100" u="none" strike="noStrike">
                          <a:effectLst/>
                        </a:rPr>
                        <a:t> ( </a:t>
                      </a:r>
                      <a:r>
                        <a:rPr lang="en-IN" sz="1200" u="none" strike="noStrike">
                          <a:effectLst/>
                        </a:rPr>
                        <a:t>योग कल्याण प्रशिक्षक )</a:t>
                      </a:r>
                      <a:endParaRPr lang="en-US" sz="12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u="none" strike="noStrike" dirty="0">
                          <a:effectLst/>
                        </a:rPr>
                        <a:t>12वीं </a:t>
                      </a:r>
                      <a:r>
                        <a:rPr lang="en-IN" sz="1200" u="none" strike="noStrike" dirty="0" err="1">
                          <a:effectLst/>
                        </a:rPr>
                        <a:t>कक्षा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प्रमाण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पत्र</a:t>
                      </a:r>
                      <a:r>
                        <a:rPr lang="en-IN" sz="1200" u="none" strike="noStrike" dirty="0">
                          <a:effectLst/>
                        </a:rPr>
                        <a:t>/</a:t>
                      </a:r>
                      <a:r>
                        <a:rPr lang="en-IN" sz="1200" u="none" strike="noStrike" dirty="0" err="1">
                          <a:effectLst/>
                        </a:rPr>
                        <a:t>किसी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माध्यमिक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विद्यालय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से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मान्यता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प्राप्त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बोर्ड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</a:rPr>
                        <a:t>या</a:t>
                      </a:r>
                      <a:r>
                        <a:rPr lang="en-IN" sz="1200" u="none" strike="noStrike" dirty="0">
                          <a:effectLst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</a:rPr>
                        <a:t>समकक्ष</a:t>
                      </a:r>
                      <a:endParaRPr lang="en-US" sz="1200" u="none" strike="noStrike" dirty="0" smtClean="0">
                        <a:effectLst/>
                      </a:endParaRPr>
                    </a:p>
                    <a:p>
                      <a:pPr algn="l" fontAlgn="ctr"/>
                      <a:endParaRPr lang="en-US" sz="1200" b="0" i="0" u="none" strike="noStrike" dirty="0" smtClean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Open</a:t>
                      </a:r>
                      <a:r>
                        <a:rPr lang="en-US" sz="1200" b="0" i="0" u="none" strike="noStrike" baseline="0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 Candidates: There are no eligibility criteria for Candidates</a:t>
                      </a:r>
                      <a:endParaRPr lang="en-US" sz="1200" b="0" i="0" u="none" strike="noStrike" dirty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i-IN" sz="1200" u="none" strike="noStrike" dirty="0">
                          <a:effectLst/>
                        </a:rPr>
                        <a:t>अंतर्राष्ट्रीय योग दिवस, पार्क, सोसायटी, सरकारी नौकरी,आदि,रोगों की रोकथाम और स्वास्थ्य का प्रचार,स्कूलों में योग प्रशिक्षक।</a:t>
                      </a:r>
                      <a:endParaRPr lang="en-US" sz="1200" b="0" i="0" u="none" strike="noStrike" dirty="0">
                        <a:solidFill>
                          <a:srgbClr val="202124"/>
                        </a:solidFill>
                        <a:effectLst/>
                        <a:latin typeface="Mangal" panose="02040503050203030202" pitchFamily="18" charset="0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0061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53897"/>
              </p:ext>
            </p:extLst>
          </p:nvPr>
        </p:nvGraphicFramePr>
        <p:xfrm>
          <a:off x="488888" y="660904"/>
          <a:ext cx="8905804" cy="5939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8305"/>
                <a:gridCol w="1630423"/>
                <a:gridCol w="3383898"/>
                <a:gridCol w="3153178"/>
              </a:tblGrid>
              <a:tr h="1765341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Yoga Teacher and Evaluator</a:t>
                      </a:r>
                      <a:r>
                        <a:rPr lang="en-IN" sz="1000" u="none" strike="noStrike">
                          <a:effectLst/>
                        </a:rPr>
                        <a:t> ( </a:t>
                      </a:r>
                      <a:r>
                        <a:rPr lang="hi-IN" sz="1100" u="none" strike="noStrike">
                          <a:effectLst/>
                        </a:rPr>
                        <a:t>योग शिक्षक और मूल्यांकनकर्ता )</a:t>
                      </a:r>
                      <a:endParaRPr lang="hi-IN" sz="11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i-IN" sz="1100" u="none" strike="noStrike" dirty="0">
                          <a:effectLst/>
                        </a:rPr>
                        <a:t>उम्मीदवार को स्नातक होना चाहिए किसी मान्यता </a:t>
                      </a:r>
                      <a:r>
                        <a:rPr lang="hi-IN" sz="1100" u="none" strike="noStrike" dirty="0" smtClean="0">
                          <a:effectLst/>
                        </a:rPr>
                        <a:t>प्राप्त</a:t>
                      </a:r>
                      <a:endParaRPr lang="en-US" sz="1100" u="none" strike="noStrike" dirty="0" smtClean="0">
                        <a:effectLst/>
                      </a:endParaRPr>
                    </a:p>
                    <a:p>
                      <a:pPr algn="l" fontAlgn="ctr"/>
                      <a:endParaRPr lang="en-US" sz="1100" u="none" strike="noStrike" dirty="0" smtClean="0">
                        <a:effectLst/>
                      </a:endParaRPr>
                    </a:p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Open</a:t>
                      </a:r>
                      <a:r>
                        <a:rPr lang="en-US" sz="1100" b="0" i="0" u="none" strike="noStrike" baseline="0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 Candidates: There are no eligibility criteria for Candidates</a:t>
                      </a:r>
                      <a:r>
                        <a:rPr lang="hi-IN" sz="1100" u="none" strike="noStrike" dirty="0" smtClean="0">
                          <a:effectLst/>
                        </a:rPr>
                        <a:t> </a:t>
                      </a:r>
                      <a:endParaRPr lang="hi-IN" sz="1100" b="0" i="0" u="none" strike="noStrike" dirty="0">
                        <a:solidFill>
                          <a:srgbClr val="202124"/>
                        </a:solidFill>
                        <a:effectLst/>
                        <a:latin typeface="Mangal" panose="02040503050203030202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i-IN" sz="1100" u="none" strike="noStrike">
                          <a:effectLst/>
                        </a:rPr>
                        <a:t>सरकारी नौकरी ,योग शिक्षण संस्थानों में मास्टर ट्रेनर,योग प्रशिक्षण पाठ्यक्रम और प्रशिक्षण कार्यक्रम। मूल्यांकनकर्ता के रूप में भी कार्य कर सकते हैं, और योग के निर्धारक स्टूडियो, संस्थान, कॉलेज/ विश्वविद्यालय / उच्च शिक्षा संस्थान में पढ़ा सकते हैं।</a:t>
                      </a:r>
                      <a:endParaRPr lang="hi-IN" sz="1100" b="0" i="0" u="none" strike="noStrike">
                        <a:solidFill>
                          <a:srgbClr val="202124"/>
                        </a:solidFill>
                        <a:effectLst/>
                        <a:latin typeface="Mangal" panose="02040503050203030202" pitchFamily="18" charset="0"/>
                      </a:endParaRPr>
                    </a:p>
                  </a:txBody>
                  <a:tcPr marL="5695" marR="5695" marT="5695" marB="0" anchor="ctr"/>
                </a:tc>
              </a:tr>
              <a:tr h="1315727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u="none" strike="noStrike">
                          <a:effectLst/>
                        </a:rPr>
                        <a:t>5</a:t>
                      </a:r>
                      <a:endParaRPr lang="en-IN" sz="11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Yoga Master                  </a:t>
                      </a:r>
                      <a:r>
                        <a:rPr lang="en-IN" sz="1000" u="none" strike="noStrike">
                          <a:effectLst/>
                        </a:rPr>
                        <a:t> ( </a:t>
                      </a:r>
                      <a:r>
                        <a:rPr lang="hi-IN" sz="1100" u="none" strike="noStrike">
                          <a:effectLst/>
                        </a:rPr>
                        <a:t>योग मास्टर )</a:t>
                      </a:r>
                      <a:endParaRPr lang="hi-IN" sz="11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i-IN" sz="1100" u="none" strike="noStrike" dirty="0">
                          <a:effectLst/>
                        </a:rPr>
                        <a:t>विश्वविद्यालय से या इसके समकक्ष</a:t>
                      </a:r>
                      <a:r>
                        <a:rPr lang="hi-IN" sz="1100" u="none" strike="noStrike" dirty="0" smtClean="0">
                          <a:effectLst/>
                        </a:rPr>
                        <a:t>।</a:t>
                      </a:r>
                      <a:endParaRPr lang="en-US" sz="1100" u="none" strike="noStrike" dirty="0" smtClean="0">
                        <a:effectLst/>
                      </a:endParaRPr>
                    </a:p>
                    <a:p>
                      <a:pPr algn="l" fontAlgn="ctr"/>
                      <a:endParaRPr lang="en-US" sz="1100" b="0" i="0" u="none" strike="noStrike" dirty="0" smtClean="0">
                        <a:solidFill>
                          <a:srgbClr val="202124"/>
                        </a:solidFill>
                        <a:effectLst/>
                        <a:latin typeface="Mangal" panose="02040503050203030202" pitchFamily="18" charset="0"/>
                      </a:endParaRPr>
                    </a:p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Open</a:t>
                      </a:r>
                      <a:r>
                        <a:rPr lang="en-US" sz="1100" b="0" i="0" u="none" strike="noStrike" baseline="0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 Candidates: There are no eligibility criteria for Candidates</a:t>
                      </a:r>
                      <a:endParaRPr lang="hi-IN" sz="1100" b="0" i="0" u="none" strike="noStrike" dirty="0">
                        <a:solidFill>
                          <a:srgbClr val="202124"/>
                        </a:solidFill>
                        <a:effectLst/>
                        <a:latin typeface="Mangal" panose="02040503050203030202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i-IN" sz="1100" u="none" strike="noStrike">
                          <a:effectLst/>
                        </a:rPr>
                        <a:t>सरकारी नौकरी ,</a:t>
                      </a:r>
                      <a:r>
                        <a:rPr lang="hi-IN" sz="1000" u="none" strike="noStrike">
                          <a:effectLst/>
                        </a:rPr>
                        <a:t> </a:t>
                      </a:r>
                      <a:r>
                        <a:rPr lang="hi-IN" sz="1100" u="none" strike="noStrike">
                          <a:effectLst/>
                        </a:rPr>
                        <a:t>योग मास्टर के रूप में कार्य कर सकते हैं  /योग शिक्षा सभी के लिए मूल्यांकन  कर सकते हैं ,और एक मार्गदर्शक  के रूप में कार्य कर सकते हैं ।</a:t>
                      </a:r>
                      <a:endParaRPr lang="hi-IN" sz="1100" b="0" i="0" u="none" strike="noStrike">
                        <a:solidFill>
                          <a:srgbClr val="202124"/>
                        </a:solidFill>
                        <a:effectLst/>
                        <a:latin typeface="Mangal" panose="02040503050203030202" pitchFamily="18" charset="0"/>
                      </a:endParaRPr>
                    </a:p>
                  </a:txBody>
                  <a:tcPr marL="5695" marR="5695" marT="5695" marB="0" anchor="ctr"/>
                </a:tc>
              </a:tr>
              <a:tr h="1263447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u="none" strike="noStrike">
                          <a:effectLst/>
                        </a:rPr>
                        <a:t>6</a:t>
                      </a:r>
                      <a:endParaRPr lang="en-IN" sz="11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Assistant Yoga Therapist (</a:t>
                      </a:r>
                      <a:r>
                        <a:rPr lang="en-IN" sz="1000" u="none" strike="noStrike">
                          <a:effectLst/>
                        </a:rPr>
                        <a:t> </a:t>
                      </a:r>
                      <a:r>
                        <a:rPr lang="hi-IN" sz="1100" u="none" strike="noStrike">
                          <a:effectLst/>
                        </a:rPr>
                        <a:t>सहायक योग चिकित्सक )</a:t>
                      </a:r>
                      <a:endParaRPr lang="hi-IN" sz="11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 smtClean="0">
                          <a:effectLst/>
                        </a:rPr>
                        <a:t>10+2</a:t>
                      </a:r>
                    </a:p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Open</a:t>
                      </a:r>
                      <a:r>
                        <a:rPr lang="en-US" sz="1100" b="0" i="0" u="none" strike="noStrike" baseline="0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 Candidates: There are no eligibility criteria for Candidates</a:t>
                      </a:r>
                      <a:endParaRPr lang="en-IN" sz="1100" b="0" i="0" u="none" strike="noStrike" dirty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i-IN" sz="1100" u="none" strike="noStrike">
                          <a:effectLst/>
                        </a:rPr>
                        <a:t>सरकारी नौकरी, प्रमाणित चिकित्सक या प्रमाणित योग चिकित्सक कि देखरेख में काम कर सकते हैं और विशिष्ट विकार पर योग सलाहकार के रूप में कार्य कर सकते हैं।</a:t>
                      </a:r>
                      <a:endParaRPr lang="hi-IN" sz="1100" b="0" i="0" u="none" strike="noStrike">
                        <a:solidFill>
                          <a:srgbClr val="202124"/>
                        </a:solidFill>
                        <a:effectLst/>
                        <a:latin typeface="Mangal" panose="02040503050203030202" pitchFamily="18" charset="0"/>
                      </a:endParaRPr>
                    </a:p>
                  </a:txBody>
                  <a:tcPr marL="5695" marR="5695" marT="5695" marB="0" anchor="ctr"/>
                </a:tc>
              </a:tr>
              <a:tr h="1594557">
                <a:tc>
                  <a:txBody>
                    <a:bodyPr/>
                    <a:lstStyle/>
                    <a:p>
                      <a:pPr algn="r" fontAlgn="ctr"/>
                      <a:r>
                        <a:rPr lang="en-IN" sz="1100" u="none" strike="noStrike">
                          <a:effectLst/>
                        </a:rPr>
                        <a:t>7</a:t>
                      </a:r>
                      <a:endParaRPr lang="en-IN" sz="11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>
                          <a:effectLst/>
                        </a:rPr>
                        <a:t>Yoga Therapist      </a:t>
                      </a:r>
                      <a:r>
                        <a:rPr lang="en-IN" sz="1000" u="none" strike="noStrike">
                          <a:effectLst/>
                        </a:rPr>
                        <a:t>           ( </a:t>
                      </a:r>
                      <a:r>
                        <a:rPr lang="hi-IN" sz="1100" u="none" strike="noStrike">
                          <a:effectLst/>
                        </a:rPr>
                        <a:t>योग चिकित्सक )</a:t>
                      </a:r>
                      <a:endParaRPr lang="hi-IN" sz="1100" b="0" i="0" u="none" strike="noStrike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u="none" strike="noStrike" dirty="0">
                          <a:effectLst/>
                        </a:rPr>
                        <a:t>Any Degree </a:t>
                      </a:r>
                      <a:r>
                        <a:rPr lang="en-IN" sz="1100" u="none" strike="noStrike" dirty="0" smtClean="0">
                          <a:effectLst/>
                        </a:rPr>
                        <a:t>holder</a:t>
                      </a:r>
                    </a:p>
                    <a:p>
                      <a:pPr algn="l" fontAlgn="ctr"/>
                      <a:endParaRPr lang="en-IN" sz="1100" u="none" strike="noStrike" dirty="0" smtClean="0">
                        <a:effectLst/>
                      </a:endParaRPr>
                    </a:p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Open</a:t>
                      </a:r>
                      <a:r>
                        <a:rPr lang="en-US" sz="1100" b="0" i="0" u="none" strike="noStrike" baseline="0" dirty="0" smtClean="0">
                          <a:solidFill>
                            <a:srgbClr val="202124"/>
                          </a:solidFill>
                          <a:effectLst/>
                          <a:latin typeface="Times New Roman" panose="02020603050405020304" pitchFamily="18" charset="0"/>
                        </a:rPr>
                        <a:t> Candidates: There are no eligibility criteria for Candidates</a:t>
                      </a:r>
                      <a:endParaRPr lang="en-IN" sz="1100" b="0" i="0" u="none" strike="noStrike" dirty="0">
                        <a:solidFill>
                          <a:srgbClr val="202124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hi-IN" sz="1100" u="none" strike="noStrike" dirty="0">
                          <a:effectLst/>
                        </a:rPr>
                        <a:t>सरकारी नौकरी ,प्रमाणित चिकित्सक या प्रमाणित  चिकित्सीय योग सलाहकार के साथ काम कर सकते हैं, </a:t>
                      </a:r>
                      <a:endParaRPr lang="hi-IN" sz="1100" b="0" i="0" u="none" strike="noStrike" dirty="0">
                        <a:solidFill>
                          <a:srgbClr val="202124"/>
                        </a:solidFill>
                        <a:effectLst/>
                        <a:latin typeface="Mangal" panose="02040503050203030202" pitchFamily="18" charset="0"/>
                      </a:endParaRPr>
                    </a:p>
                  </a:txBody>
                  <a:tcPr marL="5695" marR="5695" marT="569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7427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Fee Structure Of Yoga Professional Certification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553393"/>
              </p:ext>
            </p:extLst>
          </p:nvPr>
        </p:nvGraphicFramePr>
        <p:xfrm>
          <a:off x="470778" y="2160588"/>
          <a:ext cx="9008199" cy="3790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9987"/>
                <a:gridCol w="2017053"/>
                <a:gridCol w="1507895"/>
                <a:gridCol w="1409978"/>
                <a:gridCol w="1488311"/>
                <a:gridCol w="1644975"/>
              </a:tblGrid>
              <a:tr h="52928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S.No.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Yoga Course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Assessment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Fees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GST (18%)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Registration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Fees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</a:tr>
              <a:tr h="705716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Yoga Protocol Instructor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2500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450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500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3450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</a:tr>
              <a:tr h="615094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Yoga Wellness Instructor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3000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540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1000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4540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</a:tr>
              <a:tr h="705716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Yoga Teacher &amp; Evaluator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4000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720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1500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6220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</a:tr>
              <a:tr h="35285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Yoga Master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5000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900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2500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8400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</a:tr>
              <a:tr h="529287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Assistant Yoga Therapist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2500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450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1500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4450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</a:tr>
              <a:tr h="352858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Yoga Therapist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5000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900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Rs. 2000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Rs</a:t>
                      </a:r>
                      <a:r>
                        <a:rPr lang="en-US" sz="1100" u="none" strike="noStrike" dirty="0">
                          <a:effectLst/>
                        </a:rPr>
                        <a:t>. 7900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84" marR="6084" marT="6084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210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Theory and Practical Marking Scenario of Yoga Professional Certification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604273"/>
              </p:ext>
            </p:extLst>
          </p:nvPr>
        </p:nvGraphicFramePr>
        <p:xfrm>
          <a:off x="823864" y="2435380"/>
          <a:ext cx="8564580" cy="38205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6122"/>
                <a:gridCol w="4551374"/>
                <a:gridCol w="1245478"/>
                <a:gridCol w="1291606"/>
              </a:tblGrid>
              <a:tr h="424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Total Marks - 200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24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Sr. No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Type of Certification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Theory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Practical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4245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Yoga Volunteer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4245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Yoga Protocol Instrutor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4245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Yoga Wellness Instructor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4245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Yoga Teacher and Evaluator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4245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Yoga Master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4245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Assistant Yoga Therapist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  <a:tr h="4245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Yoga Therapist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100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100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668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i-IN" dirty="0" smtClean="0"/>
              <a:t>Points To Be Noted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NOTE:</a:t>
            </a:r>
            <a:r>
              <a:rPr lang="hi-IN" dirty="0"/>
              <a:t> </a:t>
            </a:r>
            <a:r>
              <a:rPr lang="hi-IN" b="1" dirty="0"/>
              <a:t>रिअपीयर </a:t>
            </a:r>
            <a:r>
              <a:rPr lang="hi-IN" b="1" dirty="0" smtClean="0"/>
              <a:t>फीस </a:t>
            </a:r>
            <a:r>
              <a:rPr lang="hi-IN" b="1" dirty="0"/>
              <a:t>अभी फ्री है अगर आगे बाद में कोई चेंज होता है तो आप सब लोगों को और बता दिया जाएगा।</a:t>
            </a:r>
            <a:endParaRPr lang="en-US" dirty="0"/>
          </a:p>
          <a:p>
            <a:pPr fontAlgn="base"/>
            <a:r>
              <a:rPr lang="en-US" b="1" dirty="0"/>
              <a:t>(</a:t>
            </a:r>
            <a:r>
              <a:rPr lang="hi-IN" b="1" dirty="0"/>
              <a:t>रिअपीयर का मतलब है कि अगर विद्यार्थी </a:t>
            </a:r>
            <a:r>
              <a:rPr lang="hi-IN" b="1" dirty="0" smtClean="0"/>
              <a:t>थ्योरी </a:t>
            </a:r>
            <a:r>
              <a:rPr lang="hi-IN" b="1" dirty="0"/>
              <a:t>में फेल हुआ है तो थ्योरी की परीक्षा दोबारा दे सकता है और प्रैक्टिकल में फेल हुआ </a:t>
            </a:r>
            <a:r>
              <a:rPr lang="hi-IN" b="1" dirty="0" smtClean="0"/>
              <a:t>है</a:t>
            </a:r>
          </a:p>
          <a:p>
            <a:pPr fontAlgn="base"/>
            <a:r>
              <a:rPr lang="hi-IN" dirty="0" smtClean="0"/>
              <a:t>अगर विद्यार्थी प्रैक्टिकल में फ़ैल हुआ है तो उसे दोनों थ्योरी and प्रैक्टिकल दोबारा देना होगा|</a:t>
            </a:r>
            <a:endParaRPr lang="en-US" dirty="0"/>
          </a:p>
          <a:p>
            <a:pPr fontAlgn="base"/>
            <a:r>
              <a:rPr lang="en-US" b="1" dirty="0"/>
              <a:t>**:</a:t>
            </a:r>
            <a:r>
              <a:rPr lang="hi-IN" b="1" dirty="0"/>
              <a:t>उम्मीदवार के लिए पात्रता मानदंड</a:t>
            </a:r>
            <a:r>
              <a:rPr lang="en-US" b="1" dirty="0"/>
              <a:t>: </a:t>
            </a:r>
            <a:r>
              <a:rPr lang="en-IN" dirty="0"/>
              <a:t>*** ( 1 </a:t>
            </a:r>
            <a:r>
              <a:rPr lang="hi-IN" dirty="0"/>
              <a:t>से</a:t>
            </a:r>
            <a:r>
              <a:rPr lang="en-IN" dirty="0"/>
              <a:t> 5 </a:t>
            </a:r>
            <a:r>
              <a:rPr lang="hi-IN" dirty="0"/>
              <a:t>योग शिक्षा और प्रशिक्षण</a:t>
            </a:r>
            <a:r>
              <a:rPr lang="en-IN" dirty="0"/>
              <a:t> )   (6 </a:t>
            </a:r>
            <a:r>
              <a:rPr lang="hi-IN" dirty="0"/>
              <a:t>से</a:t>
            </a:r>
            <a:r>
              <a:rPr lang="en-IN" dirty="0"/>
              <a:t> 8  </a:t>
            </a:r>
            <a:r>
              <a:rPr lang="hi-IN" dirty="0"/>
              <a:t>योग चिकित्सा</a:t>
            </a:r>
            <a:r>
              <a:rPr lang="en-IN" dirty="0"/>
              <a:t> )70%  passing marks in each (Theory &amp; Practical) and 2 hour Duration (Theory Exam)  </a:t>
            </a:r>
            <a:r>
              <a:rPr lang="hi-IN" dirty="0"/>
              <a:t>योग पेशेवरों का थ्योरी परीक्षा पेपर द्विभाषी होगा - अंग्रेजी और हिंदी 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51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Registration</a:t>
            </a:r>
            <a:r>
              <a:rPr lang="hi-IN" dirty="0" smtClean="0"/>
              <a:t>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93823"/>
            <a:ext cx="8596668" cy="4547540"/>
          </a:xfrm>
        </p:spPr>
        <p:txBody>
          <a:bodyPr/>
          <a:lstStyle/>
          <a:p>
            <a:r>
              <a:rPr lang="en-US" dirty="0" smtClean="0"/>
              <a:t>Go </a:t>
            </a:r>
            <a:r>
              <a:rPr lang="en-US" dirty="0"/>
              <a:t>to Website :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yogacertificationboard.nic.in/mis/Home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50" y="2041650"/>
            <a:ext cx="905827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5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633744"/>
            <a:ext cx="10674036" cy="540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93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-1" y="787652"/>
            <a:ext cx="10891319" cy="554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327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9190"/>
            <a:ext cx="12192000" cy="537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16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7" y="1152525"/>
            <a:ext cx="903922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92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912" y="1409700"/>
            <a:ext cx="902017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24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25" y="1423987"/>
            <a:ext cx="9124950" cy="486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26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5" y="1033762"/>
            <a:ext cx="11923809" cy="4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53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00" y="648047"/>
            <a:ext cx="11000000" cy="55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892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7" y="1443037"/>
            <a:ext cx="90773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211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1438275"/>
            <a:ext cx="9496425" cy="500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378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255</TotalTime>
  <Words>870</Words>
  <Application>Microsoft Office PowerPoint</Application>
  <PresentationFormat>Widescreen</PresentationFormat>
  <Paragraphs>153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Inherit</vt:lpstr>
      <vt:lpstr>Mangal</vt:lpstr>
      <vt:lpstr>Times New Roman</vt:lpstr>
      <vt:lpstr>Trebuchet MS</vt:lpstr>
      <vt:lpstr>Wingdings 3</vt:lpstr>
      <vt:lpstr>Facet</vt:lpstr>
      <vt:lpstr>MODISH SERVICE PRIVATE LIMITED</vt:lpstr>
      <vt:lpstr>About MSPL- PERSONNEL CERTIFICATION BODY</vt:lpstr>
      <vt:lpstr>MSPL के उद्देश्य:</vt:lpstr>
      <vt:lpstr>Yoga Certification Courses</vt:lpstr>
      <vt:lpstr>Type of Certificate, Eligibility and where we use the Certificate</vt:lpstr>
      <vt:lpstr>PowerPoint Presentation</vt:lpstr>
      <vt:lpstr>Fee Structure Of Yoga Professional Certification</vt:lpstr>
      <vt:lpstr>Theory and Practical Marking Scenario of Yoga Professional Certification</vt:lpstr>
      <vt:lpstr>Points To Be Noted</vt:lpstr>
      <vt:lpstr>Registration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MODISH SERVICE PRIVATE LIMITED</dc:title>
  <dc:creator>ok</dc:creator>
  <cp:lastModifiedBy>ok</cp:lastModifiedBy>
  <cp:revision>19</cp:revision>
  <dcterms:created xsi:type="dcterms:W3CDTF">2024-06-14T07:03:04Z</dcterms:created>
  <dcterms:modified xsi:type="dcterms:W3CDTF">2024-06-17T11:24:45Z</dcterms:modified>
</cp:coreProperties>
</file>